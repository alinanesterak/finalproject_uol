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33A"/>
          </a:solidFill>
          <a:ln w="12700">
            <a:solidFill>
              <a:srgbClr val="C49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4933A"/>
          </a:solidFill>
          <a:ln w="12700">
            <a:solidFill>
              <a:srgbClr val="C493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09728"/>
            <a:ext cx="2926080" cy="4924044"/>
          </a:xfrm>
          <a:prstGeom prst="rect">
            <a:avLst/>
          </a:prstGeom>
          <a:solidFill>
            <a:srgbClr val="2A5240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Works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Catalogue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B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Research, Design &amp; Evaluation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5029200" cy="0"/>
          </a:xfrm>
          <a:prstGeom prst="line">
            <a:avLst/>
          </a:prstGeom>
          <a:noFill/>
          <a:ln w="10160">
            <a:solidFill>
              <a:srgbClr val="C49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C6A"/>
                </a:solidFill>
              </a:rPr>
              <a:t>Template: Working with 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</a:rPr>
              <a:t>Computer Science Final Year Project  |  2025–2026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933A"/>
                </a:solidFill>
              </a:rPr>
              <a:t>Contents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C6A"/>
                </a:solidFill>
              </a:rPr>
              <a:t>01  Research &amp; evidence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02  Problems identified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03  User needs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04  Data model decision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05  Proposed solutions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291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06  Features &amp; mapping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07  Dataset evaluation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4206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08  Ethics &amp; limitations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4663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09  Project summary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0E8"/>
                </a:solidFill>
              </a:rPr>
              <a:t>EVIDENCE FROM RESEARCH &amp; LITERATURE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C6A"/>
                </a:solidFill>
              </a:rPr>
              <a:t>What the academic literature tells us about the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73152" cy="1170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24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Stadler &amp; Jettka (2023)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</a:rPr>
              <a:t>DLfM '23, Milano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1430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MerMEId is the only tool in digital musicology built explicitly for musical catalogue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61848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The codebase has accumulated severe technical debt — hard to maintain and unattractive to new developers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09397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Dependency on XForms/Orbeon XForms processor is obsolete and blocks modernisation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1430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No comprehensive documentation exists for users or developers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61848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Only basic automated tests in place — reliability is not guaranteed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85953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50008"/>
            <a:ext cx="73152" cy="1170432"/>
          </a:xfrm>
          <a:prstGeom prst="rect">
            <a:avLst/>
          </a:prstGeom>
          <a:solidFill>
            <a:srgbClr val="C4933A"/>
          </a:solidFill>
          <a:ln w="12700">
            <a:solidFill>
              <a:srgbClr val="C4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Krabbe &amp; Geertinger (2012)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715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</a:rPr>
              <a:t>RISM Conference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24414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MEI XML is the right encoding standard for thematic catalogues — flexible, scholarly, open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291693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Digital catalogues must go beyond PDFs to enable search, linking, and machine-readable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24414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Incipits (opening musical notes) encoded in MEI enable computational musical analysis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291693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Interoperability between catalogues is a key unsolved challenge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648456"/>
            <a:ext cx="85953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48456"/>
            <a:ext cx="73152" cy="1170432"/>
          </a:xfrm>
          <a:prstGeom prst="rect">
            <a:avLst/>
          </a:prstGeom>
          <a:solidFill>
            <a:srgbClr val="3B6B52"/>
          </a:solidFill>
          <a:ln w="12700">
            <a:solidFill>
              <a:srgbClr val="3B6B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21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Dreyfus, Lewis &amp; Page (2025)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0142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</a:rPr>
              <a:t>Journal of New Music Research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37398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Musicology has long suffered from making its work accessible to wider audiences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42153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Digital companions must offer 'different ways to explore, see and hear' — not just text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37398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▸  Linked data and multimedia integration are essential for modern music scholarship portals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0E8"/>
                </a:solidFill>
              </a:rPr>
              <a:t>PROBLEMS IDENTIFIED FROM RESEARCH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C6A"/>
                </a:solidFill>
              </a:rPr>
              <a:t>Six documented problems this project directly addresses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416052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161288"/>
            <a:ext cx="41148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161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publication pipeline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14538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5042"/>
                </a:solidFill>
              </a:rPr>
              <a:t>Source: Stadler &amp; Jettka 2023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6824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The MerMEId publication system stopped working when institutional support ended. MEI catalogue data is now effectively inaccessible to end users.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024128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24128"/>
            <a:ext cx="416052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1161288"/>
            <a:ext cx="41148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1161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debt &amp; obsolescence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03520" y="14538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5042"/>
                </a:solidFill>
              </a:rPr>
              <a:t>Source: Stadler &amp; Jettka 2023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16824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Dependency on XForms/Orbeon and eXist XML database makes MerMEId very hard to maintain. No modern developer wants to work with this stack.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377440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377440"/>
            <a:ext cx="416052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514600"/>
            <a:ext cx="41148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machine-readable API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8680" y="2807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5042"/>
                </a:solidFill>
              </a:rPr>
              <a:t>Source: Krabbe &amp; Geertinger 2012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035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Catalogue data is locked in XML files with no queryable interface. Researchers cannot programmatically access or analyse the data.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77440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77440"/>
            <a:ext cx="416052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18888" y="2514600"/>
            <a:ext cx="41148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limited to specialists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303520" y="2807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5042"/>
                </a:solidFill>
              </a:rPr>
              <a:t>Source: Dreyfus et al. 2025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035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MEI XML is only readable by domain experts. Musicologists, students, and the public cannot access catalogue information through any user-friendly interface.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730752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730752"/>
            <a:ext cx="416052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3867912"/>
            <a:ext cx="41148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" y="3867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Catalogues are siloed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68680" y="4160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5042"/>
                </a:solidFill>
              </a:rPr>
              <a:t>Source: Krabbe &amp; Geertinger 2012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4389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Each composer's catalogue exists as a separate system. No tool allows cross-catalogue discovery, comparison, or linked exploration.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3730752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730752"/>
            <a:ext cx="416052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18888" y="3867912"/>
            <a:ext cx="41148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3867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documentation or testing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303520" y="4160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5042"/>
                </a:solidFill>
              </a:rPr>
              <a:t>Source: Stadler &amp; Jettka 2023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46320" y="4389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Existing MerMEId documentation is incomplete and unmaintained. No automated test suite exists, making the system unreliable for mission-critical use.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0E8"/>
                </a:solidFill>
              </a:rPr>
              <a:t>USER NEEDS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C6A"/>
                </a:solidFill>
              </a:rPr>
              <a:t>Four user groups, their needs, and the problems they face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87552"/>
            <a:ext cx="1371600" cy="1828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24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Sarah 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90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Musicologist / Scholar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947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Pain: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Forced to parse XML manually or use broken web interfaces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37360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2E"/>
                </a:solidFill>
              </a:rPr>
              <a:t>Needs: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13533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Search works by key, instrumentation, and 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17007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Access manuscript provenance and source descriptions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0482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Export catalogue data for computational 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3957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Compare works across catalogues programmatically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90872" y="98755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987552"/>
            <a:ext cx="1371600" cy="1828800"/>
          </a:xfrm>
          <a:prstGeom prst="rect">
            <a:avLst/>
          </a:prstGeom>
          <a:solidFill>
            <a:srgbClr val="C4933A"/>
          </a:solidFill>
          <a:ln w="12700">
            <a:solidFill>
              <a:srgbClr val="C49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1124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James 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82312" y="1490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Music Librarian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82312" y="1947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Pain: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82312" y="215798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Dependent on a single institution's unsupported Java software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99632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2E"/>
                </a:solidFill>
              </a:rPr>
              <a:t>Needs: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9632" y="13533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Catalogue management that survives institutional change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99632" y="17007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Import/export standard formats (MEI, JSON, CSV)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20482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Reliable, well-documented open-source infrastructure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9632" y="23957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Multi-language metadata support (Danish, German, English)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99923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99232"/>
            <a:ext cx="1371600" cy="1828800"/>
          </a:xfrm>
          <a:prstGeom prst="rect">
            <a:avLst/>
          </a:prstGeom>
          <a:solidFill>
            <a:srgbClr val="3B6B52"/>
          </a:solidFill>
          <a:ln w="12700">
            <a:solidFill>
              <a:srgbClr val="3B6B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136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Anna 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35021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Music Student / Enthusiast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3959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Pain: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16966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No accessible interface exists — PDF catalogues or broken websites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737360" y="3108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2E"/>
                </a:solidFill>
              </a:rPr>
              <a:t>Needs: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37360" y="3364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Browse a composer's works without XML knowledge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37360" y="3712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Discover related or lesser-known works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37360" y="405993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Listen to incipits or link to recordings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37360" y="4407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Understand the context of a work (premieres, versions)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90872" y="299923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90872" y="2999232"/>
            <a:ext cx="1371600" cy="1828800"/>
          </a:xfrm>
          <a:prstGeom prst="rect">
            <a:avLst/>
          </a:prstGeom>
          <a:solidFill>
            <a:srgbClr val="2A5240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3136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 / Researcher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82312" y="35021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API Consumer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82312" y="3959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Pain: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82312" y="416966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No public API exists — must scrape or process raw XML files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99632" y="3108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A2E"/>
                </a:solidFill>
              </a:rPr>
              <a:t>Needs: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99632" y="3364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RESTful, documented API with stable endpoints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99632" y="3712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JSON responses with full catalogue metadata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99632" y="405993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Linked data identifiers (Wikidata, MusicBrainz IDs)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99632" y="4407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 Consistent pagination, filtering, and search endpoints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0E8"/>
                </a:solidFill>
              </a:rPr>
              <a:t>DATA MODEL DECISION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C6A"/>
                </a:solidFill>
              </a:rPr>
              <a:t>The brief requires an explicit decision: keep MEI XML, or transform into a new model?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87552"/>
            <a:ext cx="420624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as MEI XML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097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Rejected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44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6B52"/>
                </a:solidFill>
              </a:rPr>
              <a:t>Advantages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23160" y="14447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</a:rPr>
              <a:t>Drawbacks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673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+ No data loss — full fidelity preserved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947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+ Stays aligned with the MEI community standard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23160" y="16733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Requires XQuery expertise to query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19476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No standard REST interface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2221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Locked to eXist-db — recreates the original problem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23160" y="24963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Not accessible to non-specialists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98755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0872" y="987552"/>
            <a:ext cx="4206240" cy="64008"/>
          </a:xfrm>
          <a:prstGeom prst="rect">
            <a:avLst/>
          </a:prstGeom>
          <a:solidFill>
            <a:srgbClr val="C4933A"/>
          </a:solidFill>
          <a:ln w="12700">
            <a:solidFill>
              <a:srgbClr val="C49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 Data (RDF / Turtle)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25512" y="1097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933A"/>
                </a:solidFill>
              </a:rPr>
              <a:t>Stretch goal only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1444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6B52"/>
                </a:solidFill>
              </a:rPr>
              <a:t>Advantages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85432" y="14447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</a:rPr>
              <a:t>Drawbacks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28032" y="1673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+ Interoperable with Wikidata, MusicBrainz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1947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+ Best long-term solution for the musicology community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28032" y="2221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+ FAIR principles compliant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85432" y="16733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Steep learning curve for a final year project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85432" y="19476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Tooling overhead (triple stores, SPARQL)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85432" y="2221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Risk of under-delivering core features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85432" y="24963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MerMEId MeLODy already pursuing this path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299923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2999232"/>
            <a:ext cx="4206240" cy="64008"/>
          </a:xfrm>
          <a:prstGeom prst="rect">
            <a:avLst/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08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database (Neo4j)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063240" y="3108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6560"/>
                </a:solidFill>
              </a:rPr>
              <a:t>Considered &amp; declined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4564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6B52"/>
                </a:solidFill>
              </a:rPr>
              <a:t>Advantages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23160" y="34564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</a:rPr>
              <a:t>Drawbacks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36850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+ Natural fit for work–movement–manuscript relationships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3959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+ Powerful traversal queries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23160" y="3685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Significant infrastructure complexity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423160" y="39593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Hard to expose as a simple REST API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423160" y="42336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Overkill for the scale of 2–3 catalogues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423160" y="4507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− Hosting constraints for a student project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90872" y="2999232"/>
            <a:ext cx="4206240" cy="1828800"/>
          </a:xfrm>
          <a:prstGeom prst="rect">
            <a:avLst/>
          </a:prstGeom>
          <a:solidFill>
            <a:srgbClr val="1C3A2E"/>
          </a:solidFill>
          <a:ln w="19050">
            <a:solidFill>
              <a:srgbClr val="C493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90872" y="2999232"/>
            <a:ext cx="4206240" cy="64008"/>
          </a:xfrm>
          <a:prstGeom prst="rect">
            <a:avLst/>
          </a:prstGeom>
          <a:solidFill>
            <a:srgbClr val="3B6B52"/>
          </a:solidFill>
          <a:ln w="12700">
            <a:solidFill>
              <a:srgbClr val="3B6B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108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+ SQLite  ✓ chosen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525512" y="3108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6B52"/>
                </a:solidFill>
              </a:rPr>
              <a:t>Selected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28032" y="34564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BC6A"/>
                </a:solidFill>
              </a:rPr>
              <a:t>Advantages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85432" y="34564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785C"/>
                </a:solidFill>
              </a:rPr>
              <a:t>Drawbacks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28032" y="36850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</a:rPr>
              <a:t>+ Queryable with standard SQL — no specialist knowledge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28032" y="39593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</a:rPr>
              <a:t>+ Clean REST API via FastAPI with no extra layer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28032" y="4233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</a:rPr>
              <a:t>+ Portable, zero-config, easy to test and host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28032" y="4507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</a:rPr>
              <a:t>+ MEI XML preserved as source — transformation is reversible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885432" y="3685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</a:rPr>
              <a:t>− Less expressive than RDF for linked data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85432" y="39593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</a:rPr>
              <a:t>− Relational model requires careful schema design for MEI's hierarchy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0E8"/>
                </a:solidFill>
              </a:rPr>
              <a:t>PROPOSED SOLUTIONS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C6A"/>
                </a:solidFill>
              </a:rPr>
              <a:t>How this project responds to each documented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C4933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60520" cy="1115568"/>
          </a:xfrm>
          <a:prstGeom prst="rect">
            <a:avLst/>
          </a:prstGeom>
          <a:solidFill>
            <a:srgbClr val="2A5240"/>
          </a:solidFill>
          <a:ln w="6350">
            <a:solidFill>
              <a:srgbClr val="C49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P1 Broken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490472"/>
            <a:ext cx="3291840" cy="0"/>
          </a:xfrm>
          <a:prstGeom prst="line">
            <a:avLst/>
          </a:prstGeom>
          <a:noFill/>
          <a:ln w="5080">
            <a:solidFill>
              <a:srgbClr val="C4933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72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Modern Python + FastAPI stack replaces the broken Java/XForms system. Fully deployable via Docker with zero legacy dependencies.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60520" cy="1115568"/>
          </a:xfrm>
          <a:prstGeom prst="rect">
            <a:avLst/>
          </a:prstGeom>
          <a:solidFill>
            <a:srgbClr val="2A5240"/>
          </a:solidFill>
          <a:ln w="6350">
            <a:solidFill>
              <a:srgbClr val="C49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07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1207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P2 Technical debt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1490472"/>
            <a:ext cx="3291840" cy="0"/>
          </a:xfrm>
          <a:prstGeom prst="line">
            <a:avLst/>
          </a:prstGeom>
          <a:noFill/>
          <a:ln w="5080">
            <a:solidFill>
              <a:srgbClr val="C4933A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72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Clean architecture: XML parser → SQLite → REST API → React frontend. Each layer independently testable and replaceable.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59152"/>
            <a:ext cx="4160520" cy="1115568"/>
          </a:xfrm>
          <a:prstGeom prst="rect">
            <a:avLst/>
          </a:prstGeom>
          <a:solidFill>
            <a:srgbClr val="2A5240"/>
          </a:solidFill>
          <a:ln w="6350">
            <a:solidFill>
              <a:srgbClr val="C4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P3 No 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2752344"/>
            <a:ext cx="3291840" cy="0"/>
          </a:xfrm>
          <a:prstGeom prst="line">
            <a:avLst/>
          </a:prstGeom>
          <a:noFill/>
          <a:ln w="5080">
            <a:solidFill>
              <a:srgbClr val="C4933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34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RESTful API with documented JSON endpoints for works, composers, genres, manuscripts, incipits, and performances.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359152"/>
            <a:ext cx="4160520" cy="1115568"/>
          </a:xfrm>
          <a:prstGeom prst="rect">
            <a:avLst/>
          </a:prstGeom>
          <a:solidFill>
            <a:srgbClr val="2A5240"/>
          </a:solidFill>
          <a:ln w="6350">
            <a:solidFill>
              <a:srgbClr val="C493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P4 Access barrier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49240" y="2752344"/>
            <a:ext cx="3291840" cy="0"/>
          </a:xfrm>
          <a:prstGeom prst="line">
            <a:avLst/>
          </a:prstGeom>
          <a:noFill/>
          <a:ln w="5080">
            <a:solidFill>
              <a:srgbClr val="C4933A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834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Intuitive web interface with full-text search, genre filters, instrumentation browsing — no XML knowledge needed.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21024"/>
            <a:ext cx="4160520" cy="1115568"/>
          </a:xfrm>
          <a:prstGeom prst="rect">
            <a:avLst/>
          </a:prstGeom>
          <a:solidFill>
            <a:srgbClr val="2A5240"/>
          </a:solidFill>
          <a:ln w="6350">
            <a:solidFill>
              <a:srgbClr val="C493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30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4400" y="3730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P5 Siloed catalogues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4014216"/>
            <a:ext cx="3291840" cy="0"/>
          </a:xfrm>
          <a:prstGeom prst="line">
            <a:avLst/>
          </a:prstGeom>
          <a:noFill/>
          <a:ln w="5080">
            <a:solidFill>
              <a:srgbClr val="C4933A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965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Multi-catalogue support: browse Carl Nielsen and Delius together. Cross-composer discovery via the Works Discovery Engine.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621024"/>
            <a:ext cx="4160520" cy="1115568"/>
          </a:xfrm>
          <a:prstGeom prst="rect">
            <a:avLst/>
          </a:prstGeom>
          <a:solidFill>
            <a:srgbClr val="2A5240"/>
          </a:solidFill>
          <a:ln w="6350">
            <a:solidFill>
              <a:srgbClr val="C493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30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49240" y="3730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P6 No docs/tests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4014216"/>
            <a:ext cx="3291840" cy="0"/>
          </a:xfrm>
          <a:prstGeom prst="line">
            <a:avLst/>
          </a:prstGeom>
          <a:noFill/>
          <a:ln w="5080">
            <a:solidFill>
              <a:srgbClr val="C4933A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0965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Automated test suite (pytest) for the API and transformation pipeline. Full API documentation generated via OpenAPI/Swagger.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0E8"/>
                </a:solidFill>
              </a:rPr>
              <a:t>FEATURES &amp; PROBLEM–SOLUTION MAPPING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C6A"/>
                </a:solidFill>
              </a:rPr>
              <a:t>Every feature traces back to a documented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560320" cy="384048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005840"/>
            <a:ext cx="914400" cy="384048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0058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Solves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005840"/>
            <a:ext cx="1828800" cy="384048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005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User group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005840"/>
            <a:ext cx="3200400" cy="384048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0058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389888"/>
            <a:ext cx="256032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389888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Full-text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34640" y="1389888"/>
            <a:ext cx="9144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38988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P3, P4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389888"/>
            <a:ext cx="1828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38988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All users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1389888"/>
            <a:ext cx="32004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38988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Search across title, composer, genre, incipit, and manuscript descriptions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901952"/>
            <a:ext cx="256032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90195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Works Discovery Engine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834640" y="1901952"/>
            <a:ext cx="91440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190195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1901952"/>
            <a:ext cx="182880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190195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Students, scholars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1901952"/>
            <a:ext cx="320040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190195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Cluster works by melodic incipit similarity; surface cross-composer connections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414016"/>
            <a:ext cx="256032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41401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REST API (JSON)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834640" y="2414016"/>
            <a:ext cx="9144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241401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P3, P6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49040" y="2414016"/>
            <a:ext cx="1828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241401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Developers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77840" y="2414016"/>
            <a:ext cx="32004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2414016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OpenAPI-documented endpoints for all catalogue entities with pagination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2926080"/>
            <a:ext cx="256032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92608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Multi-catalogue browser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834640" y="2926080"/>
            <a:ext cx="91440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0" y="292608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49040" y="2926080"/>
            <a:ext cx="182880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292608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All users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77840" y="2926080"/>
            <a:ext cx="320040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292608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Browse and compare Carl Nielsen and Frederick Delius catalogues side by side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438144"/>
            <a:ext cx="256032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43814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Linked data (Wikidata / MusicBrainz)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834640" y="3438144"/>
            <a:ext cx="9144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0" y="3438144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P3, P5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749040" y="3438144"/>
            <a:ext cx="1828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343814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Researchers, devs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577840" y="3438144"/>
            <a:ext cx="32004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0" y="3438144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Every work entity linked to external knowledge graphs for interoperability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3950208"/>
            <a:ext cx="256032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950208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Manuscript &amp; source viewer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834640" y="3950208"/>
            <a:ext cx="91440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0" y="395020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P4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3950208"/>
            <a:ext cx="182880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0" y="395020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Scholars, librarians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577840" y="3950208"/>
            <a:ext cx="3200400" cy="512064"/>
          </a:xfrm>
          <a:prstGeom prst="rect">
            <a:avLst/>
          </a:prstGeom>
          <a:solidFill>
            <a:srgbClr val="EAE3D5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395020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Structured display of source descriptions, manuscript dates, and provenance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74320" y="4462272"/>
            <a:ext cx="256032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46227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MEI model evaluation report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834640" y="4462272"/>
            <a:ext cx="9144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0" y="446227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P2, P6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749040" y="4462272"/>
            <a:ext cx="1828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0" y="446227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Librarians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577840" y="4462272"/>
            <a:ext cx="32004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D4CFC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446227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Critical assessment of MEI data model with migration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0E8"/>
                </a:solidFill>
              </a:rPr>
              <a:t>CATALOGUE-AGNOSTIC DESIGN &amp; DATASET EVALUATION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C6A"/>
                </a:solidFill>
              </a:rPr>
              <a:t>The system works with any MEI XML catalogue — not just one composer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594360"/>
          </a:xfrm>
          <a:prstGeom prst="rect">
            <a:avLst/>
          </a:prstGeom>
          <a:solidFill>
            <a:srgbClr val="1C3A2E"/>
          </a:solidFill>
          <a:ln w="9525">
            <a:solidFill>
              <a:srgbClr val="C49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🏗️  The pipeline is catalogue-agnostic: any MEI XML file produced by MerMEId can be ingested. Adding a new composer's catalogue requires no code changes — only a new XML source file. The two datasets below were chosen for their completeness and public availability.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Catalogues used in this 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3120"/>
            <a:ext cx="64008" cy="868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67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Carl Nielsen Works (CNW)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323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560"/>
                </a:solidFill>
              </a:rPr>
              <a:t>Danish Royal Library / DCM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08960" y="21671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~750 works, full MEI XML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Primary — transformation benchmark, API &amp; UI development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63240"/>
            <a:ext cx="64008" cy="868680"/>
          </a:xfrm>
          <a:prstGeom prst="rect">
            <a:avLst/>
          </a:prstGeom>
          <a:solidFill>
            <a:srgbClr val="C4933A"/>
          </a:solidFill>
          <a:ln w="12700">
            <a:solidFill>
              <a:srgbClr val="C4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27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Frederick Delius (DCW)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924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560"/>
                </a:solidFill>
              </a:rPr>
              <a:t>University of Oxford / BL Labs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~150 works, full MEI XML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33A"/>
                </a:solidFill>
              </a:rPr>
              <a:t>Secondary — tests multi-composer support &amp; schema consistency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023360"/>
            <a:ext cx="64008" cy="868680"/>
          </a:xfrm>
          <a:prstGeom prst="rect">
            <a:avLst/>
          </a:prstGeom>
          <a:solidFill>
            <a:srgbClr val="3B6B52"/>
          </a:solidFill>
          <a:ln w="12700">
            <a:solidFill>
              <a:srgbClr val="3B6B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87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edge-case 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52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560"/>
                </a:solidFill>
              </a:rPr>
              <a:t>Manually constructed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08960" y="4087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~20 records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B52"/>
                </a:solidFill>
              </a:rPr>
              <a:t>Unit testing — missing fields, multilingual metadata, malformed incipits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1719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available MEI catalogues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</a:rPr>
              <a:t>Compatible with this system — extensible without code changes: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2450592"/>
            <a:ext cx="3291840" cy="475488"/>
          </a:xfrm>
          <a:prstGeom prst="rect">
            <a:avLst/>
          </a:prstGeom>
          <a:solidFill>
            <a:srgbClr val="EAE3D5"/>
          </a:solidFill>
          <a:ln w="5080">
            <a:solidFill>
              <a:srgbClr val="D4CF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505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</a:rPr>
              <a:t>♪  J.P.E. Hartmann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27249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Danish Royal Library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3017520"/>
            <a:ext cx="3291840" cy="475488"/>
          </a:xfrm>
          <a:prstGeom prst="rect">
            <a:avLst/>
          </a:prstGeom>
          <a:solidFill>
            <a:srgbClr val="EAE3D5"/>
          </a:solidFill>
          <a:ln w="5080">
            <a:solidFill>
              <a:srgbClr val="D4CF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0723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</a:rPr>
              <a:t>♪  Niels W. Gade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15000" y="329184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Danish Royal Library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0" y="3584448"/>
            <a:ext cx="3291840" cy="475488"/>
          </a:xfrm>
          <a:prstGeom prst="rect">
            <a:avLst/>
          </a:prstGeom>
          <a:solidFill>
            <a:srgbClr val="EAE3D5"/>
          </a:solidFill>
          <a:ln w="5080">
            <a:solidFill>
              <a:srgbClr val="D4CF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36393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</a:rPr>
              <a:t>♪  Johann Adolph Scheibe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15000" y="385876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Danish Royal Library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4151376"/>
            <a:ext cx="3291840" cy="475488"/>
          </a:xfrm>
          <a:prstGeom prst="rect">
            <a:avLst/>
          </a:prstGeom>
          <a:solidFill>
            <a:srgbClr val="EAE3D5"/>
          </a:solidFill>
          <a:ln w="5080">
            <a:solidFill>
              <a:srgbClr val="D4CF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4206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</a:rPr>
              <a:t>♪  Giuseppe Tartini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44256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</a:rPr>
              <a:t>Discover Tartini project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560"/>
                </a:solidFill>
              </a:rPr>
              <a:t>Note: evaluation focuses on transformation accuracy and usability — not classification scores.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0E8"/>
                </a:solidFill>
              </a:rPr>
              <a:t>ETHICS &amp; LIMITATIONS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C6A"/>
                </a:solidFill>
              </a:rPr>
              <a:t>Being honest about responsibilities and constraints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C4933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responsibilities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</a:rPr>
              <a:t>👤  Data attribution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MEI catalogue data was produced by named scholars. The system must prominently credit original authors and institutions — not merely list them in a footer.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</a:rPr>
              <a:t>©  Copyright on editorial content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262432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Musical works may be public domain, but editorial annotations and descriptions may be copyrighted separately. The system must handle this carefully and not reproduce protected text verbatim.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</a:rPr>
              <a:t>⚠️  Transparency of algorithms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34930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Melodic similarity groupings from incipits are computational suggestions, not scholarly claims. The UI must label these clearly — users must not mistake algorithmic output for musicological consensus.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069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</a:rPr>
              <a:t>♿  Accessibility obligation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" y="436168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A portal claiming to democratise access must itself be accessible: WCAG 2.1 AA compliant, screen-reader friendly, keyboard navigable. Accessibility cannot be an afterthought.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</a:rPr>
              <a:t>📊  Data completeness varies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175564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Some MEI records have missing incipits, incomplete manuscript data, or undated works. The interface must surface this uncertainty honestly, not hide it.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</a:rPr>
              <a:t>🎵  Incipit analysis is shallow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262432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Opening notes are a limited proxy for musical similarity. The system must never overstate what this analysis means. It is exploratory, not definitive.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</a:rPr>
              <a:t>🔢  Scope limited to 2–3 composers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34930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Scaling to dozens of catalogues requires infrastructure well beyond a final year project. The architecture should be extensible, but scope must be realistic.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4069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0E8"/>
                </a:solidFill>
              </a:rPr>
              <a:t>🌍  Multilingual metadata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436168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</a:rPr>
              <a:t>MEI catalogues mix Danish, German and English metadata inconsistently. Full multilingual normalisation is a research challenge in itself — partial handling is acceptable if documented.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1005840"/>
            <a:ext cx="0" cy="3931920"/>
          </a:xfrm>
          <a:prstGeom prst="line">
            <a:avLst/>
          </a:prstGeom>
          <a:noFill/>
          <a:ln w="6350">
            <a:solidFill>
              <a:srgbClr val="C4933A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0E8"/>
                </a:solidFill>
              </a:rPr>
              <a:t>PROJECT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delivers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54864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</a:rPr>
              <a:t>Data transformation pipeline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</a:rPr>
              <a:t>MEI XML → SQLite — Python, fully tested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21408"/>
            <a:ext cx="54864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</a:rPr>
              <a:t>REST API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</a:rPr>
              <a:t>FastAPI with OpenAPI docs — all catalogue entities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79776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79776"/>
            <a:ext cx="54864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25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</a:rPr>
              <a:t>Web interface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081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</a:rPr>
              <a:t>Multi-composer browser, search, discovery engine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438144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438144"/>
            <a:ext cx="54864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</a:rPr>
              <a:t>MEI evaluation report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73989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</a:rPr>
              <a:t>Critical assessment with modernisation recommendations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096512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96512"/>
            <a:ext cx="54864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</a:rPr>
              <a:t>Test suite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39826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60"/>
                </a:solidFill>
              </a:rPr>
              <a:t>Pytest coverage for parser and API, 3 datasets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0644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Grading criteria alignment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06440" y="1463040"/>
            <a:ext cx="3108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18836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Live website with catalogue data from at least one composer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06440" y="2542032"/>
            <a:ext cx="3108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493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633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2:1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29626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Significant data model coverage, most data transformed and presented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06440" y="3621024"/>
            <a:ext cx="31089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712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0" y="40416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MEI evaluation, multi-composer support, linked data, discovery insights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06440" y="4736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 targets a First.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Works Catalogue Portal – Research &amp; Design</dc:title>
  <dc:subject>PptxGenJS Presentation</dc:subject>
  <dc:creator>PptxGenJS</dc:creator>
  <cp:lastModifiedBy>PptxGenJS</cp:lastModifiedBy>
  <cp:revision>1</cp:revision>
  <dcterms:created xsi:type="dcterms:W3CDTF">2026-05-24T13:27:24Z</dcterms:created>
  <dcterms:modified xsi:type="dcterms:W3CDTF">2026-05-24T13:27:24Z</dcterms:modified>
</cp:coreProperties>
</file>