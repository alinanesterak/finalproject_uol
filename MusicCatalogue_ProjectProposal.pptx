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253460">
              <a:alpha val="60000"/>
            </a:srgbClr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200400"/>
            <a:ext cx="731520" cy="731520"/>
          </a:xfrm>
          <a:prstGeom prst="ellipse">
            <a:avLst/>
          </a:prstGeom>
          <a:solidFill>
            <a:srgbClr val="C9882A">
              <a:alpha val="40000"/>
            </a:srgbClr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882A"/>
                </a:solidFill>
              </a:rPr>
              <a:t>FINAL PROJECT PROPOSAL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Works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 Portal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C060"/>
                </a:solidFill>
              </a:rPr>
              <a:t>A new approach to exploring classical composers' works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611880"/>
            <a:ext cx="4114800" cy="0"/>
          </a:xfrm>
          <a:prstGeom prst="line">
            <a:avLst/>
          </a:prstGeom>
          <a:noFill/>
          <a:ln w="12700">
            <a:solidFill>
              <a:srgbClr val="C9882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Template: Working with Works — A New Approach to Music Cataloguing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Computer Science Final Year Project  | 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C060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Centuries of cataloguing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Composers have catalogued their works since Mozart's time. Thematic catalogues are essential scholarly resources — listing every work, manuscript and performance.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097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digital solution built in 2014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4231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The Danish Royal Library built MerMEId: a Java-based XML system for digitising these catalogues using MEI — a music-specific XML standard.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60120"/>
            <a:ext cx="2743200" cy="5486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097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has broken down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4231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When the library stopped development, the publication pipeline stopped working. The data survives in MEI XML — but no modern interface exists to access it.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C060"/>
                </a:solidFill>
              </a:rPr>
              <a:t>PROJECT IDEA &amp; INTERPRETATION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building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20040" cy="32004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</a:rPr>
              <a:t>Data transformation pipeline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801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Parse MEI XML catalogues into JSON + SQLite.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320040" cy="32004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</a:rPr>
              <a:t>REST 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6426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Clean endpoints for works, genres, manuscripts, performances.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36976"/>
            <a:ext cx="320040" cy="32004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</a:rPr>
              <a:t>Interactive web frontend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34838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Browser interface — searchable, filterable, visual.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078224"/>
            <a:ext cx="320040" cy="32004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78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0599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</a:rPr>
              <a:t>MEI model evaluation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325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Critical assessment with recommendations.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960120"/>
            <a:ext cx="4023360" cy="3840480"/>
          </a:xfrm>
          <a:prstGeom prst="rect">
            <a:avLst/>
          </a:prstGeom>
          <a:solidFill>
            <a:srgbClr val="253460"/>
          </a:solidFill>
          <a:ln w="12700">
            <a:solidFill>
              <a:srgbClr val="25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unique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16916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82A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Multi-composer support — browse Nielsen, Delius and others side by side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24048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82A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Works Discovery Engine — find works by musical similarity, not just title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311810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82A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Linked data — connect to Wikidata, MusicBrainz and IMSLP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83133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82A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Open API — enabling future researchers to build on the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882A"/>
                </a:solidFill>
              </a:rPr>
              <a:t>CREATIVE 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Works Discovery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C060"/>
                </a:solidFill>
              </a:rPr>
              <a:t>Going beyond catalogue lookup — unlocking new insights in the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4114800" cy="1325880"/>
          </a:xfrm>
          <a:prstGeom prst="rect">
            <a:avLst/>
          </a:prstGeom>
          <a:solidFill>
            <a:srgbClr val="253460"/>
          </a:solidFill>
          <a:ln w="9525">
            <a:solidFill>
              <a:srgbClr val="C98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965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C060"/>
                </a:solidFill>
              </a:rPr>
              <a:t>🎵  Melodic similarity from incipits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3500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MEI catalogues include incipits — the opening notes of each work. By analysing these computationally, works can be clustered by melodic character, revealing connections no human cataloguer has explicitly mapped.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874520"/>
            <a:ext cx="4114800" cy="1325880"/>
          </a:xfrm>
          <a:prstGeom prst="rect">
            <a:avLst/>
          </a:prstGeom>
          <a:solidFill>
            <a:srgbClr val="253460"/>
          </a:solidFill>
          <a:ln w="9525">
            <a:solidFill>
              <a:srgbClr val="C988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965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C060"/>
                </a:solidFill>
              </a:rPr>
              <a:t>🔗  Cross-composer discovery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0" y="23500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Because multiple catalogues are loaded together, structural similarities between composers (e.g. Nielsen and Delius) can be surfaced — something no existing tool does. Genuinely new scholarly territory.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3383280"/>
            <a:ext cx="4114800" cy="1325880"/>
          </a:xfrm>
          <a:prstGeom prst="rect">
            <a:avLst/>
          </a:prstGeom>
          <a:solidFill>
            <a:srgbClr val="253460"/>
          </a:solidFill>
          <a:ln w="9525">
            <a:solidFill>
              <a:srgbClr val="C98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C060"/>
                </a:solidFill>
              </a:rPr>
              <a:t>💡  Surfacing unknown works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38587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Most users know a composer's famous pieces. The catalogue holds hundreds of lesser-known works. A recommendation-style interface highlights underexplored pieces based on what a user has already shown interest 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3383280"/>
            <a:ext cx="4114800" cy="1325880"/>
          </a:xfrm>
          <a:prstGeom prst="rect">
            <a:avLst/>
          </a:prstGeom>
          <a:solidFill>
            <a:srgbClr val="253460"/>
          </a:solidFill>
          <a:ln w="9525">
            <a:solidFill>
              <a:srgbClr val="C98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C060"/>
                </a:solidFill>
              </a:rPr>
              <a:t>⚖️  Democratising access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38587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MEI catalogues are currently accessible only to specialists. A well-designed portal makes the same scholarly data available to students, amateur musicians and the general public — not just researchers.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C060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Musicologists &amp; scholars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Need structured, searchable catalogue data for research. Broken interfaces are a genuine daily obstacle.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librarians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Need a sustainable open system to maintain catalogues without depending on a single institution's infrastructure.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697480"/>
            <a:ext cx="4114800" cy="5486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07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music lovers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Have no user-friendly way to explore a composer's full body of work — the portal opens that up for the first 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6974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697480"/>
            <a:ext cx="4114800" cy="5486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07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 &amp; researchers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00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Benefit from a public API to build new analytical tools on top of structured, scholarly catalogue data.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C060"/>
                </a:solidFill>
              </a:rPr>
              <a:t>RELATED WORK &amp; BACKGROUND RESEARCH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MerMEId / DCM Catalog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051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882A"/>
                </a:solidFill>
              </a:rPr>
              <a:t>Gap identified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Original system (2014–present)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Java-based XML database that published the Carl Nielsen and Delius catalogues. Publication pipeline is now broken — the direct gap this project addresses.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69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IMSLP Petrucci Library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43800" y="1051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Missing depth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92040" y="1399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Commercial/open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256,000+ works, 27,600+ composers. Impressive scale but no structured thematic data — works lack manuscript descriptions, premiere dates, movements.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4114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MusicBrainz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063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Missing scholarship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4107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Open music 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REST API and Linked Data output — strong technical reference. But classical metadata is thin on scholarly catalogue detail.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41148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Krabbe &amp; Geertinger (2012)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3063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Theoretical basis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34107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Academic — RISM Conference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6576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"MEI as a Basis for Thematic Catalogues" — validates MEI XML as the right standard and informs our evaluation of its limitations.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C060"/>
                </a:solidFill>
              </a:rPr>
              <a:t>WHAT OUR PROJECT ADDRESSES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in the landscape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011680" cy="457200"/>
          </a:xfrm>
          <a:prstGeom prst="rect">
            <a:avLst/>
          </a:prstGeom>
          <a:solidFill>
            <a:srgbClr val="1A2744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Platform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77440" y="1508760"/>
            <a:ext cx="1554480" cy="457200"/>
          </a:xfrm>
          <a:prstGeom prst="rect">
            <a:avLst/>
          </a:prstGeom>
          <a:solidFill>
            <a:srgbClr val="1A2744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Structured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0" y="1508760"/>
            <a:ext cx="1554480" cy="457200"/>
          </a:xfrm>
          <a:prstGeom prst="rect">
            <a:avLst/>
          </a:prstGeom>
          <a:solidFill>
            <a:srgbClr val="1A2744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Modern 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1508760"/>
            <a:ext cx="1645920" cy="457200"/>
          </a:xfrm>
          <a:prstGeom prst="rect">
            <a:avLst/>
          </a:prstGeom>
          <a:solidFill>
            <a:srgbClr val="1A2744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Scholarly depth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0" y="1508760"/>
            <a:ext cx="1645920" cy="457200"/>
          </a:xfrm>
          <a:prstGeom prst="rect">
            <a:avLst/>
          </a:prstGeom>
          <a:solidFill>
            <a:srgbClr val="1A2744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5472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Discovery layer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201168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IMSLP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1965960"/>
            <a:ext cx="155448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965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❌ 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1965960"/>
            <a:ext cx="155448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5072" y="1965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⚠️ Limited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1965960"/>
            <a:ext cx="164592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❌ No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1965960"/>
            <a:ext cx="164592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❌ No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MusicBrainz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2423160"/>
            <a:ext cx="1554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✅ Partial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31920" y="2423160"/>
            <a:ext cx="1554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5072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✅ Yes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0" y="2423160"/>
            <a:ext cx="1645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❌ No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32320" y="2423160"/>
            <a:ext cx="1645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❌ No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880360"/>
            <a:ext cx="201168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MerMEId (old)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77440" y="2880360"/>
            <a:ext cx="155448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0592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✅ Yes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31920" y="2880360"/>
            <a:ext cx="155448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05072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❌ Broken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0" y="2880360"/>
            <a:ext cx="164592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9552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✅ Yes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32320" y="2880360"/>
            <a:ext cx="164592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❌ No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3337560"/>
            <a:ext cx="2011680" cy="457200"/>
          </a:xfrm>
          <a:prstGeom prst="rect">
            <a:avLst/>
          </a:prstGeom>
          <a:solidFill>
            <a:srgbClr val="C9882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This project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377440" y="3337560"/>
            <a:ext cx="1554480" cy="457200"/>
          </a:xfrm>
          <a:prstGeom prst="rect">
            <a:avLst/>
          </a:prstGeom>
          <a:solidFill>
            <a:srgbClr val="C9882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0592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✅ Yes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31920" y="3337560"/>
            <a:ext cx="1554480" cy="457200"/>
          </a:xfrm>
          <a:prstGeom prst="rect">
            <a:avLst/>
          </a:prstGeom>
          <a:solidFill>
            <a:srgbClr val="C9882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5072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✅ Yes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0" y="3337560"/>
            <a:ext cx="1645920" cy="457200"/>
          </a:xfrm>
          <a:prstGeom prst="rect">
            <a:avLst/>
          </a:prstGeom>
          <a:solidFill>
            <a:srgbClr val="C9882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9552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✅ Yes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132320" y="3337560"/>
            <a:ext cx="1645920" cy="457200"/>
          </a:xfrm>
          <a:prstGeom prst="rect">
            <a:avLst/>
          </a:prstGeom>
          <a:solidFill>
            <a:srgbClr val="C9882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05472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✅ Yes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53460"/>
                </a:solidFill>
              </a:rPr>
              <a:t>Only this project combines all four — structured data, modern API, scholarly depth, and a discovery layer.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C060"/>
                </a:solidFill>
              </a:rPr>
              <a:t>ETHICS &amp; LIMITATIONS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4864" cy="347472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considerations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Data attribution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MEI catalogue data was produced by scholars. The system must credit original authors and institutions clearly.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Copyright on descriptions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Musical works may be public domain, but editorial annotations may be separately copyrighted. This requires careful handling.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962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Transparency of algorithms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36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Melodic similarity groupings are computational suggestions — not scholarly claims. The UI must make this distinction explicit.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712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Accessibility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86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 portal claiming to democratise access must itself be accessible: WCAG compliant, screen-reader friendly.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54864" cy="3474720"/>
          </a:xfrm>
          <a:prstGeom prst="rect">
            <a:avLst/>
          </a:prstGeom>
          <a:solidFill>
            <a:srgbClr val="253460"/>
          </a:solidFill>
          <a:ln w="12700">
            <a:solidFill>
              <a:srgbClr val="25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Data completeness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Some works have incomplete manuscript records or missing incipits. The system must surface this uncertainty honestly.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212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Incipit analysis is shallow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87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Melodic similarity from opening notes is a limited proxy. The system must never overstate what this means musically.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9626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2369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Starting with 2–3 composers is realistic. Scaling to dozens requires infrastructure beyond this project's scope.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37124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Multilingual metadata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986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MEI catalogues mix Danish, German and English. Consistent handling of this is harder than it appears.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882A"/>
                </a:solidFill>
              </a:rPr>
              <a:t>PROTOTYPE &amp; DELIVERABLES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discovery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508760"/>
            <a:ext cx="1554480" cy="3017520"/>
          </a:xfrm>
          <a:prstGeom prst="rect">
            <a:avLst/>
          </a:prstGeom>
          <a:solidFill>
            <a:srgbClr val="253460"/>
          </a:solidFill>
          <a:ln w="9525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642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1371600" cy="0"/>
          </a:xfrm>
          <a:prstGeom prst="line">
            <a:avLst/>
          </a:prstGeom>
          <a:noFill/>
          <a:ln w="6350">
            <a:solidFill>
              <a:srgbClr val="C9882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816352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60"/>
                </a:solidFill>
              </a:rPr>
              <a:t>MEI XML from Carl Nielsen &amp; Delius catalogues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2651760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882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47672" y="1508760"/>
            <a:ext cx="1554480" cy="3017520"/>
          </a:xfrm>
          <a:prstGeom prst="rect">
            <a:avLst/>
          </a:prstGeom>
          <a:solidFill>
            <a:srgbClr val="253460"/>
          </a:solidFill>
          <a:ln w="9525">
            <a:solidFill>
              <a:srgbClr val="C988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16642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039112" y="2286000"/>
            <a:ext cx="1371600" cy="0"/>
          </a:xfrm>
          <a:prstGeom prst="line">
            <a:avLst/>
          </a:prstGeom>
          <a:noFill/>
          <a:ln w="6350">
            <a:solidFill>
              <a:srgbClr val="C9882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Transform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39112" y="2816352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60"/>
                </a:solidFill>
              </a:rPr>
              <a:t>Python script → JSON + SQLite 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02152" y="2651760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882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12464" y="1508760"/>
            <a:ext cx="1554480" cy="3017520"/>
          </a:xfrm>
          <a:prstGeom prst="rect">
            <a:avLst/>
          </a:prstGeom>
          <a:solidFill>
            <a:srgbClr val="253460"/>
          </a:solidFill>
          <a:ln w="9525">
            <a:solidFill>
              <a:srgbClr val="C988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03904" y="16642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803904" y="2286000"/>
            <a:ext cx="1371600" cy="0"/>
          </a:xfrm>
          <a:prstGeom prst="line">
            <a:avLst/>
          </a:prstGeom>
          <a:noFill/>
          <a:ln w="6350">
            <a:solidFill>
              <a:srgbClr val="C9882A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03904" y="2816352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60"/>
                </a:solidFill>
              </a:rPr>
              <a:t>FastAPI — works, search, filtering, manuscripts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66944" y="2651760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882A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77256" y="1508760"/>
            <a:ext cx="1554480" cy="3017520"/>
          </a:xfrm>
          <a:prstGeom prst="rect">
            <a:avLst/>
          </a:prstGeom>
          <a:solidFill>
            <a:srgbClr val="253460"/>
          </a:solidFill>
          <a:ln w="9525">
            <a:solidFill>
              <a:srgbClr val="C988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68696" y="16642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568696" y="2286000"/>
            <a:ext cx="1371600" cy="0"/>
          </a:xfrm>
          <a:prstGeom prst="line">
            <a:avLst/>
          </a:prstGeom>
          <a:noFill/>
          <a:ln w="6350">
            <a:solidFill>
              <a:srgbClr val="C9882A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68696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 UI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68696" y="2816352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60"/>
                </a:solidFill>
              </a:rPr>
              <a:t>Interactive browser interface for all users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31736" y="2651760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882A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42048" y="1508760"/>
            <a:ext cx="1554480" cy="3017520"/>
          </a:xfrm>
          <a:prstGeom prst="rect">
            <a:avLst/>
          </a:prstGeom>
          <a:solidFill>
            <a:srgbClr val="253460"/>
          </a:solidFill>
          <a:ln w="9525">
            <a:solidFill>
              <a:srgbClr val="C988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33488" y="16642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333488" y="2286000"/>
            <a:ext cx="1371600" cy="0"/>
          </a:xfrm>
          <a:prstGeom prst="line">
            <a:avLst/>
          </a:prstGeom>
          <a:noFill/>
          <a:ln w="6350">
            <a:solidFill>
              <a:srgbClr val="C9882A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3488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Discovery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33488" y="2816352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60"/>
                </a:solidFill>
              </a:rPr>
              <a:t>Incipit similarity, recommendations, cross-composer links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882A"/>
                </a:solidFill>
              </a:rPr>
              <a:t>IN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catalogues have centuries of history.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exists. The tools have broken.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 rebuilds the bridge — and opens new doors.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2971800"/>
            <a:ext cx="54864" cy="23774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94436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Real MEI XML data — no synthetic datasets needed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374136"/>
            <a:ext cx="54864" cy="23774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3467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Clear scope: transform → API → web UI → discovery engine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776472"/>
            <a:ext cx="54864" cy="23774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7490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Genuine scholarly and community need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178808"/>
            <a:ext cx="54864" cy="23774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15137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Ethically considered — attribution, transparency, accessibility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581144"/>
            <a:ext cx="54864" cy="237744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55371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Honest about limitations — completeness, scale, algorithm depth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Works Catalogue Portal – Project Proposal</dc:title>
  <dc:subject>PptxGenJS Presentation</dc:subject>
  <dc:creator>PptxGenJS</dc:creator>
  <cp:lastModifiedBy>PptxGenJS</cp:lastModifiedBy>
  <cp:revision>1</cp:revision>
  <dcterms:created xsi:type="dcterms:W3CDTF">2026-05-24T12:31:19Z</dcterms:created>
  <dcterms:modified xsi:type="dcterms:W3CDTF">2026-05-24T12:31:19Z</dcterms:modified>
</cp:coreProperties>
</file>